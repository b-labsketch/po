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57" r:id="rId4"/>
    <p:sldId id="258" r:id="rId5"/>
    <p:sldId id="264" r:id="rId6"/>
    <p:sldId id="260" r:id="rId7"/>
    <p:sldId id="261" r:id="rId8"/>
    <p:sldId id="262" r:id="rId9"/>
    <p:sldId id="263"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50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64F9526B-ADC8-417D-9D4D-DBBE73874B4D}" type="datetimeFigureOut">
              <a:rPr lang="en-US" smtClean="0"/>
              <a:t>2/26/2018</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89F04DD1-759C-4D2E-9626-09DA523B8C59}" type="slidenum">
              <a:rPr lang="en-US" smtClean="0"/>
              <a:t>‹#›</a:t>
            </a:fld>
            <a:endParaRPr lang="en-US"/>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a:t>Click to edit Master title style</a:t>
            </a:r>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4F9526B-ADC8-417D-9D4D-DBBE73874B4D}" type="datetimeFigureOut">
              <a:rPr lang="en-US" smtClean="0"/>
              <a:t>2/26/2018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F04DD1-759C-4D2E-9626-09DA523B8C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4F9526B-ADC8-417D-9D4D-DBBE73874B4D}" type="datetimeFigureOut">
              <a:rPr lang="en-US" smtClean="0"/>
              <a:t>2/26/2018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F04DD1-759C-4D2E-9626-09DA523B8C59}" type="slidenum">
              <a:rPr lang="en-US" smtClean="0"/>
              <a:t>‹#›</a:t>
            </a:fld>
            <a:endParaRPr lang="en-US"/>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a:t>Click to edit Master title style</a:t>
            </a:r>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p>
            <a:r>
              <a:rPr kumimoji="0" lang="en-US"/>
              <a:t>Click to edit Master title style</a:t>
            </a:r>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4F9526B-ADC8-417D-9D4D-DBBE73874B4D}" type="datetimeFigureOut">
              <a:rPr lang="en-US" smtClean="0"/>
              <a:t>2/26/2018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F04DD1-759C-4D2E-9626-09DA523B8C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a:t>Click to edit Master title style</a:t>
            </a:r>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4F9526B-ADC8-417D-9D4D-DBBE73874B4D}" type="datetimeFigureOut">
              <a:rPr lang="en-US" smtClean="0"/>
              <a:t>2/26/2018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F04DD1-759C-4D2E-9626-09DA523B8C59}" type="slidenum">
              <a:rPr lang="en-US" smtClean="0"/>
              <a:t>‹#›</a:t>
            </a:fld>
            <a:endParaRPr lang="en-US"/>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a:t>Click to edit Master title style</a:t>
            </a:r>
          </a:p>
        </p:txBody>
      </p:sp>
      <p:sp>
        <p:nvSpPr>
          <p:cNvPr id="3" name="Date Placeholder 2"/>
          <p:cNvSpPr>
            <a:spLocks noGrp="1"/>
          </p:cNvSpPr>
          <p:nvPr>
            <p:ph type="dt" sz="half" idx="10"/>
          </p:nvPr>
        </p:nvSpPr>
        <p:spPr/>
        <p:txBody>
          <a:bodyPr/>
          <a:lstStyle/>
          <a:p>
            <a:fld id="{64F9526B-ADC8-417D-9D4D-DBBE73874B4D}" type="datetimeFigureOut">
              <a:rPr lang="en-US" smtClean="0"/>
              <a:t>2/26/2018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F04DD1-759C-4D2E-9626-09DA523B8C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9526B-ADC8-417D-9D4D-DBBE73874B4D}" type="datetimeFigureOut">
              <a:rPr lang="en-US" smtClean="0"/>
              <a:t>2/26/2018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F04DD1-759C-4D2E-9626-09DA523B8C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a:t>Click to edit Master title style</a:t>
            </a:r>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4F9526B-ADC8-417D-9D4D-DBBE73874B4D}" type="datetimeFigureOut">
              <a:rPr lang="en-US" smtClean="0"/>
              <a:t>2/26/2018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F04DD1-759C-4D2E-9626-09DA523B8C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a:t>Click to edit Master title style</a:t>
            </a:r>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a:t>Click icon to add picture</a:t>
            </a:r>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p>
            <a:fld id="{64F9526B-ADC8-417D-9D4D-DBBE73874B4D}" type="datetimeFigureOut">
              <a:rPr lang="en-US" smtClean="0"/>
              <a:t>2/26/2018</a:t>
            </a:fld>
            <a:endParaRPr lang="en-US"/>
          </a:p>
        </p:txBody>
      </p:sp>
      <p:sp>
        <p:nvSpPr>
          <p:cNvPr id="6" name="Footer Placeholder 5"/>
          <p:cNvSpPr>
            <a:spLocks noGrp="1"/>
          </p:cNvSpPr>
          <p:nvPr>
            <p:ph type="ftr" sz="quarter" idx="11"/>
          </p:nvPr>
        </p:nvSpPr>
        <p:spPr>
          <a:xfrm>
            <a:off x="914400" y="55499"/>
            <a:ext cx="5562600" cy="365125"/>
          </a:xfrm>
        </p:spPr>
        <p:txBody>
          <a:bodyPr/>
          <a:lstStyle/>
          <a:p>
            <a:endParaRPr lang="en-US"/>
          </a:p>
        </p:txBody>
      </p:sp>
      <p:sp>
        <p:nvSpPr>
          <p:cNvPr id="7" name="Slide Number Placeholder 6"/>
          <p:cNvSpPr>
            <a:spLocks noGrp="1"/>
          </p:cNvSpPr>
          <p:nvPr>
            <p:ph type="sldNum" sz="quarter" idx="12"/>
          </p:nvPr>
        </p:nvSpPr>
        <p:spPr>
          <a:xfrm>
            <a:off x="8610600" y="55499"/>
            <a:ext cx="457200" cy="365125"/>
          </a:xfrm>
        </p:spPr>
        <p:txBody>
          <a:bodyPr/>
          <a:lstStyle/>
          <a:p>
            <a:fld id="{89F04DD1-759C-4D2E-9626-09DA523B8C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4F9526B-ADC8-417D-9D4D-DBBE73874B4D}" type="datetimeFigureOut">
              <a:rPr lang="en-US" smtClean="0"/>
              <a:t>2/26/2018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F04DD1-759C-4D2E-9626-09DA523B8C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609600" y="274639"/>
            <a:ext cx="5867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4F9526B-ADC8-417D-9D4D-DBBE73874B4D}" type="datetimeFigureOut">
              <a:rPr lang="en-US" smtClean="0"/>
              <a:t>2/26/2018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F04DD1-759C-4D2E-9626-09DA523B8C5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64F9526B-ADC8-417D-9D4D-DBBE73874B4D}" type="datetimeFigureOut">
              <a:rPr lang="en-US" smtClean="0"/>
              <a:t>2/26/2018</a:t>
            </a:fld>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en-US"/>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89F04DD1-759C-4D2E-9626-09DA523B8C59}"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sz="7200" dirty="0"/>
              <a:t>L.A.S.E.R.</a:t>
            </a:r>
          </a:p>
        </p:txBody>
      </p:sp>
      <p:sp>
        <p:nvSpPr>
          <p:cNvPr id="5" name="Subtitle 4"/>
          <p:cNvSpPr>
            <a:spLocks noGrp="1"/>
          </p:cNvSpPr>
          <p:nvPr>
            <p:ph type="subTitle" idx="1"/>
          </p:nvPr>
        </p:nvSpPr>
        <p:spPr/>
        <p:txBody>
          <a:bodyPr>
            <a:normAutofit/>
          </a:bodyPr>
          <a:lstStyle/>
          <a:p>
            <a:r>
              <a:rPr lang="en-US" sz="1200" dirty="0"/>
              <a:t>Los Angeles Strategic Extraction and Restoration</a:t>
            </a:r>
          </a:p>
        </p:txBody>
      </p:sp>
    </p:spTree>
    <p:extLst>
      <p:ext uri="{BB962C8B-B14F-4D97-AF65-F5344CB8AC3E}">
        <p14:creationId xmlns:p14="http://schemas.microsoft.com/office/powerpoint/2010/main" val="3681781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2590800"/>
            <a:ext cx="7506428" cy="3252786"/>
          </a:xfrm>
        </p:spPr>
        <p:txBody>
          <a:bodyPr numCol="5">
            <a:normAutofit/>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590800"/>
            <a:ext cx="7506428" cy="3252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89000" y="533400"/>
            <a:ext cx="7506428" cy="1323439"/>
          </a:xfrm>
          <a:prstGeom prst="rect">
            <a:avLst/>
          </a:prstGeom>
          <a:noFill/>
        </p:spPr>
        <p:txBody>
          <a:bodyPr wrap="square" rtlCol="0">
            <a:spAutoFit/>
          </a:bodyPr>
          <a:lstStyle/>
          <a:p>
            <a:r>
              <a:rPr lang="en-US" sz="4000" dirty="0">
                <a:solidFill>
                  <a:schemeClr val="accent4">
                    <a:lumMod val="20000"/>
                    <a:lumOff val="80000"/>
                  </a:schemeClr>
                </a:solidFill>
                <a:latin typeface="Trebuchet MS" pitchFamily="34" charset="0"/>
              </a:rPr>
              <a:t>Strategic Goal 1 | Reduce Crime and Victimization</a:t>
            </a:r>
          </a:p>
        </p:txBody>
      </p:sp>
    </p:spTree>
    <p:extLst>
      <p:ext uri="{BB962C8B-B14F-4D97-AF65-F5344CB8AC3E}">
        <p14:creationId xmlns:p14="http://schemas.microsoft.com/office/powerpoint/2010/main" val="2785627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rebuchet MS"/>
                <a:cs typeface="Trebuchet MS"/>
              </a:rPr>
              <a:t>Operation LASER+</a:t>
            </a:r>
            <a:endParaRPr lang="en-US" dirty="0"/>
          </a:p>
        </p:txBody>
      </p:sp>
      <p:sp>
        <p:nvSpPr>
          <p:cNvPr id="3" name="TextBox 2"/>
          <p:cNvSpPr txBox="1"/>
          <p:nvPr/>
        </p:nvSpPr>
        <p:spPr>
          <a:xfrm>
            <a:off x="838200" y="1600200"/>
            <a:ext cx="8001000" cy="4585871"/>
          </a:xfrm>
          <a:prstGeom prst="rect">
            <a:avLst/>
          </a:prstGeom>
          <a:noFill/>
        </p:spPr>
        <p:txBody>
          <a:bodyPr wrap="square" rtlCol="0">
            <a:spAutoFit/>
          </a:bodyPr>
          <a:lstStyle/>
          <a:p>
            <a:r>
              <a:rPr lang="en-US" sz="2800" b="1" dirty="0">
                <a:cs typeface="Trebuchet MS"/>
              </a:rPr>
              <a:t>Core Principles: </a:t>
            </a:r>
          </a:p>
          <a:p>
            <a:endParaRPr lang="en-US" sz="2400" dirty="0">
              <a:cs typeface="Trebuchet MS"/>
            </a:endParaRPr>
          </a:p>
          <a:p>
            <a:pPr marL="342900" indent="-342900">
              <a:buFont typeface="Arial" panose="020B0604020202020204" pitchFamily="34" charset="0"/>
              <a:buChar char="•"/>
            </a:pPr>
            <a:r>
              <a:rPr lang="en-US" sz="2400" dirty="0">
                <a:cs typeface="Trebuchet MS"/>
              </a:rPr>
              <a:t>Use laser-like, non-invasive techniques to rid areas of crime and criminals</a:t>
            </a:r>
          </a:p>
          <a:p>
            <a:endParaRPr lang="en-US" sz="2400" dirty="0">
              <a:cs typeface="Trebuchet MS"/>
            </a:endParaRPr>
          </a:p>
          <a:p>
            <a:pPr marL="342900" indent="-342900">
              <a:buFont typeface="Arial" panose="020B0604020202020204" pitchFamily="34" charset="0"/>
              <a:buChar char="•"/>
            </a:pPr>
            <a:r>
              <a:rPr lang="en-US" sz="2400" dirty="0">
                <a:cs typeface="Trebuchet MS"/>
              </a:rPr>
              <a:t>Use appropriate data and analysis to drive decision making</a:t>
            </a:r>
          </a:p>
          <a:p>
            <a:endParaRPr lang="en-US" sz="2400" dirty="0">
              <a:cs typeface="Trebuchet MS"/>
            </a:endParaRPr>
          </a:p>
          <a:p>
            <a:pPr marL="342900" indent="-342900">
              <a:buFont typeface="Arial" panose="020B0604020202020204" pitchFamily="34" charset="0"/>
              <a:buChar char="•"/>
            </a:pPr>
            <a:r>
              <a:rPr lang="en-US" sz="2400" dirty="0">
                <a:cs typeface="Trebuchet MS"/>
              </a:rPr>
              <a:t>Measure what matters</a:t>
            </a:r>
          </a:p>
          <a:p>
            <a:endParaRPr lang="en-US" sz="2400" dirty="0">
              <a:cs typeface="Trebuchet MS"/>
            </a:endParaRPr>
          </a:p>
          <a:p>
            <a:pPr marL="342900" indent="-342900">
              <a:buFont typeface="Arial" panose="020B0604020202020204" pitchFamily="34" charset="0"/>
              <a:buChar char="•"/>
            </a:pPr>
            <a:r>
              <a:rPr lang="en-US" sz="2400" dirty="0">
                <a:cs typeface="Trebuchet MS"/>
              </a:rPr>
              <a:t>Focus on results and outcomes</a:t>
            </a:r>
          </a:p>
          <a:p>
            <a:endParaRPr lang="en-US" sz="2400" dirty="0">
              <a:cs typeface="Trebuchet MS"/>
            </a:endParaRPr>
          </a:p>
          <a:p>
            <a:pPr marL="342900" indent="-342900">
              <a:buFont typeface="Arial" panose="020B0604020202020204" pitchFamily="34" charset="0"/>
              <a:buChar char="•"/>
            </a:pPr>
            <a:r>
              <a:rPr lang="en-US" sz="2400" dirty="0">
                <a:cs typeface="Trebuchet MS"/>
              </a:rPr>
              <a:t>Continue to follow Constitutional Policing</a:t>
            </a:r>
          </a:p>
        </p:txBody>
      </p:sp>
    </p:spTree>
    <p:extLst>
      <p:ext uri="{BB962C8B-B14F-4D97-AF65-F5344CB8AC3E}">
        <p14:creationId xmlns:p14="http://schemas.microsoft.com/office/powerpoint/2010/main" val="4202466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rebuchet MS"/>
                <a:cs typeface="Trebuchet MS"/>
              </a:rPr>
              <a:t>Winning Elements</a:t>
            </a:r>
          </a:p>
        </p:txBody>
      </p:sp>
      <p:sp>
        <p:nvSpPr>
          <p:cNvPr id="3" name="Content Placeholder 2"/>
          <p:cNvSpPr>
            <a:spLocks noGrp="1"/>
          </p:cNvSpPr>
          <p:nvPr>
            <p:ph idx="1"/>
          </p:nvPr>
        </p:nvSpPr>
        <p:spPr>
          <a:xfrm>
            <a:off x="762000" y="1600200"/>
            <a:ext cx="8077200" cy="5486400"/>
          </a:xfrm>
        </p:spPr>
        <p:txBody>
          <a:bodyPr>
            <a:noAutofit/>
          </a:bodyPr>
          <a:lstStyle/>
          <a:p>
            <a:r>
              <a:rPr lang="en-US" sz="2000" dirty="0">
                <a:latin typeface="Century Gothic" panose="020B0502020202020204" pitchFamily="34" charset="0"/>
                <a:cs typeface="Trebuchet MS"/>
              </a:rPr>
              <a:t>Use of Crime Intelligence Details (CID)</a:t>
            </a:r>
          </a:p>
          <a:p>
            <a:pPr marL="68580" indent="0">
              <a:buNone/>
            </a:pPr>
            <a:endParaRPr lang="en-US" sz="2000" dirty="0">
              <a:latin typeface="Century Gothic" panose="020B0502020202020204" pitchFamily="34" charset="0"/>
              <a:cs typeface="Trebuchet MS"/>
            </a:endParaRPr>
          </a:p>
          <a:p>
            <a:r>
              <a:rPr lang="en-US" sz="2000" dirty="0">
                <a:latin typeface="Century Gothic" panose="020B0502020202020204" pitchFamily="34" charset="0"/>
                <a:cs typeface="Trebuchet MS"/>
              </a:rPr>
              <a:t>Identify hot spot corridors and maintain them for 9-12 months</a:t>
            </a:r>
          </a:p>
          <a:p>
            <a:pPr marL="68580" indent="0">
              <a:buNone/>
            </a:pPr>
            <a:endParaRPr lang="en-US" sz="2000" dirty="0">
              <a:latin typeface="Century Gothic" panose="020B0502020202020204" pitchFamily="34" charset="0"/>
              <a:cs typeface="Trebuchet MS"/>
            </a:endParaRPr>
          </a:p>
          <a:p>
            <a:r>
              <a:rPr lang="en-US" sz="2000" dirty="0">
                <a:latin typeface="Century Gothic" panose="020B0502020202020204" pitchFamily="34" charset="0"/>
                <a:cs typeface="Trebuchet MS"/>
              </a:rPr>
              <a:t>Create Chronic Offender bulletins and assign them to patrol and special units</a:t>
            </a:r>
          </a:p>
          <a:p>
            <a:pPr marL="68580" indent="0">
              <a:buNone/>
            </a:pPr>
            <a:endParaRPr lang="en-US" sz="2000" dirty="0">
              <a:latin typeface="Century Gothic" panose="020B0502020202020204" pitchFamily="34" charset="0"/>
              <a:cs typeface="Trebuchet MS"/>
            </a:endParaRPr>
          </a:p>
          <a:p>
            <a:r>
              <a:rPr lang="en-US" sz="2000" dirty="0">
                <a:latin typeface="Century Gothic" panose="020B0502020202020204" pitchFamily="34" charset="0"/>
                <a:cs typeface="Trebuchet MS"/>
              </a:rPr>
              <a:t>Collect and analyze data throughout the intervention period</a:t>
            </a:r>
          </a:p>
          <a:p>
            <a:pPr marL="68580" indent="0">
              <a:buNone/>
            </a:pPr>
            <a:endParaRPr lang="en-US" sz="2000" dirty="0">
              <a:latin typeface="Century Gothic" panose="020B0502020202020204" pitchFamily="34" charset="0"/>
              <a:cs typeface="Trebuchet MS"/>
            </a:endParaRPr>
          </a:p>
          <a:p>
            <a:r>
              <a:rPr lang="en-US" sz="2000" dirty="0">
                <a:latin typeface="Century Gothic" panose="020B0502020202020204" pitchFamily="34" charset="0"/>
                <a:cs typeface="Trebuchet MS"/>
              </a:rPr>
              <a:t>Direct regular patrol, bikes, and foot patrol into the hot spot corridors </a:t>
            </a:r>
          </a:p>
          <a:p>
            <a:endParaRPr lang="en-US" dirty="0">
              <a:latin typeface="Century Gothic" panose="020B0502020202020204" pitchFamily="34" charset="0"/>
            </a:endParaRPr>
          </a:p>
        </p:txBody>
      </p:sp>
    </p:spTree>
    <p:extLst>
      <p:ext uri="{BB962C8B-B14F-4D97-AF65-F5344CB8AC3E}">
        <p14:creationId xmlns:p14="http://schemas.microsoft.com/office/powerpoint/2010/main" val="92117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rebuchet MS" panose="020B0603020202020204" pitchFamily="34" charset="0"/>
              </a:rPr>
              <a:t>Dosage</a:t>
            </a:r>
          </a:p>
        </p:txBody>
      </p:sp>
      <p:sp>
        <p:nvSpPr>
          <p:cNvPr id="3" name="TextBox 2"/>
          <p:cNvSpPr txBox="1"/>
          <p:nvPr/>
        </p:nvSpPr>
        <p:spPr>
          <a:xfrm>
            <a:off x="1066800" y="1524000"/>
            <a:ext cx="7543800" cy="3785652"/>
          </a:xfrm>
          <a:prstGeom prst="rect">
            <a:avLst/>
          </a:prstGeom>
          <a:noFill/>
        </p:spPr>
        <p:txBody>
          <a:bodyPr wrap="square" rtlCol="0">
            <a:spAutoFit/>
          </a:bodyPr>
          <a:lstStyle/>
          <a:p>
            <a:r>
              <a:rPr lang="en-US" sz="2400" dirty="0"/>
              <a:t>Dosage refers to the amount of visible police presence spent in a LASER zone.  Early in the LASER program, many believed that just spending time in a zone would reduce crime.  Although there is a correlation between visible police presence and crime, we found that presence alone was not enough.</a:t>
            </a:r>
          </a:p>
          <a:p>
            <a:endParaRPr lang="en-US" sz="2400" dirty="0"/>
          </a:p>
          <a:p>
            <a:r>
              <a:rPr lang="en-US" sz="2400" dirty="0"/>
              <a:t>The time spent in a LASER zone should match the time and day of when the analysis showed crime occurring.  LASER zones are based on a historical pattern of crime.      </a:t>
            </a:r>
          </a:p>
        </p:txBody>
      </p:sp>
    </p:spTree>
    <p:extLst>
      <p:ext uri="{BB962C8B-B14F-4D97-AF65-F5344CB8AC3E}">
        <p14:creationId xmlns:p14="http://schemas.microsoft.com/office/powerpoint/2010/main" val="3399560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4">
                    <a:lumMod val="20000"/>
                    <a:lumOff val="80000"/>
                  </a:schemeClr>
                </a:solidFill>
                <a:latin typeface="Trebuchet MS" panose="020B0603020202020204" pitchFamily="34" charset="0"/>
              </a:rPr>
              <a:t>Chronic Offender Bulletins</a:t>
            </a:r>
          </a:p>
        </p:txBody>
      </p:sp>
      <p:sp>
        <p:nvSpPr>
          <p:cNvPr id="3" name="TextBox 2"/>
          <p:cNvSpPr txBox="1"/>
          <p:nvPr/>
        </p:nvSpPr>
        <p:spPr>
          <a:xfrm>
            <a:off x="938349" y="1752600"/>
            <a:ext cx="7772400" cy="4154984"/>
          </a:xfrm>
          <a:prstGeom prst="rect">
            <a:avLst/>
          </a:prstGeom>
          <a:noFill/>
        </p:spPr>
        <p:txBody>
          <a:bodyPr wrap="square" rtlCol="0">
            <a:spAutoFit/>
          </a:bodyPr>
          <a:lstStyle/>
          <a:p>
            <a:r>
              <a:rPr lang="en-US" sz="2400" dirty="0"/>
              <a:t>A chronic offender bulletin is the result of work done by crime intelligence analysts. Based on a daily review of dozens of field interview cards, arrests, and incident reports, analysts identify a person who has been active and could be engaged in violent criminal behavior.  The analyst conducts a 'work up' to determine whether the person has been involved in a violent crime, has any prior arrests for a handgun, is a gang member, or is on probation or parole.  Further, the analyst determines the number of 'quality' police contacts in the last two years.  These contacts are based on FIs, arrests, and other reports.</a:t>
            </a:r>
          </a:p>
        </p:txBody>
      </p:sp>
    </p:spTree>
    <p:extLst>
      <p:ext uri="{BB962C8B-B14F-4D97-AF65-F5344CB8AC3E}">
        <p14:creationId xmlns:p14="http://schemas.microsoft.com/office/powerpoint/2010/main" val="127802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rebuchet MS" panose="020B0603020202020204" pitchFamily="34" charset="0"/>
              </a:rPr>
              <a:t>Chronic Offender Criteria </a:t>
            </a:r>
          </a:p>
        </p:txBody>
      </p:sp>
      <p:sp>
        <p:nvSpPr>
          <p:cNvPr id="3" name="TextBox 2"/>
          <p:cNvSpPr txBox="1"/>
          <p:nvPr/>
        </p:nvSpPr>
        <p:spPr>
          <a:xfrm>
            <a:off x="914400" y="1828800"/>
            <a:ext cx="8153400" cy="4401205"/>
          </a:xfrm>
          <a:prstGeom prst="rect">
            <a:avLst/>
          </a:prstGeom>
          <a:noFill/>
        </p:spPr>
        <p:txBody>
          <a:bodyPr wrap="square" rtlCol="0">
            <a:spAutoFit/>
          </a:bodyPr>
          <a:lstStyle/>
          <a:p>
            <a:r>
              <a:rPr lang="en-US" sz="2000" dirty="0"/>
              <a:t>In Los Angeles a crime intelligence analyst at each Division creates a minimum of 12 chronic offender bulletins. (More bulletins are created to serve as substitutes for offenders who are arrested, in custody, or left the area).  </a:t>
            </a:r>
          </a:p>
          <a:p>
            <a:r>
              <a:rPr lang="en-US" sz="2000" dirty="0"/>
              <a:t> </a:t>
            </a:r>
          </a:p>
          <a:p>
            <a:r>
              <a:rPr lang="en-US" sz="2000" dirty="0"/>
              <a:t>For the 12 chronic offender bulletins, individuals are rank-ordered based on the following point system:</a:t>
            </a:r>
          </a:p>
          <a:p>
            <a:r>
              <a:rPr lang="en-US" sz="2000" dirty="0"/>
              <a:t> </a:t>
            </a:r>
          </a:p>
          <a:p>
            <a:r>
              <a:rPr lang="en-US" sz="2000" dirty="0"/>
              <a:t>5 points if the individual is a gang member</a:t>
            </a:r>
          </a:p>
          <a:p>
            <a:r>
              <a:rPr lang="en-US" sz="2000" dirty="0"/>
              <a:t>5 points if the individual is on Parole or Probation</a:t>
            </a:r>
          </a:p>
          <a:p>
            <a:r>
              <a:rPr lang="en-US" sz="2000" dirty="0"/>
              <a:t>5 points if the individual had any prior arrests with a handgun</a:t>
            </a:r>
          </a:p>
          <a:p>
            <a:r>
              <a:rPr lang="en-US" sz="2000" dirty="0"/>
              <a:t>5 points if the individual had any violent crimes in his rap sheet</a:t>
            </a:r>
          </a:p>
          <a:p>
            <a:r>
              <a:rPr lang="en-US" sz="2000" dirty="0"/>
              <a:t>1 point for every “quality” police contact in the last two years (FIs, arrests, etc.)</a:t>
            </a:r>
          </a:p>
        </p:txBody>
      </p:sp>
    </p:spTree>
    <p:extLst>
      <p:ext uri="{BB962C8B-B14F-4D97-AF65-F5344CB8AC3E}">
        <p14:creationId xmlns:p14="http://schemas.microsoft.com/office/powerpoint/2010/main" val="3611424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rebuchet MS" panose="020B0603020202020204" pitchFamily="34" charset="0"/>
              </a:rPr>
              <a:t>Actions on Chronic Offender</a:t>
            </a:r>
          </a:p>
        </p:txBody>
      </p:sp>
      <p:sp>
        <p:nvSpPr>
          <p:cNvPr id="3" name="TextBox 2"/>
          <p:cNvSpPr txBox="1"/>
          <p:nvPr/>
        </p:nvSpPr>
        <p:spPr>
          <a:xfrm>
            <a:off x="933994" y="1295400"/>
            <a:ext cx="7620000" cy="5355312"/>
          </a:xfrm>
          <a:prstGeom prst="rect">
            <a:avLst/>
          </a:prstGeom>
          <a:noFill/>
        </p:spPr>
        <p:txBody>
          <a:bodyPr wrap="square" rtlCol="0">
            <a:spAutoFit/>
          </a:bodyPr>
          <a:lstStyle/>
          <a:p>
            <a:r>
              <a:rPr lang="en-US" dirty="0"/>
              <a:t>Captains at each Division determine which units or persons are responsible for a chronic offender. Usually a special unit (gangs, narcotics, or Parole Compliance units) is assigned a group of offenders and must report on their progress in handling offenders.</a:t>
            </a:r>
          </a:p>
          <a:p>
            <a:r>
              <a:rPr lang="en-US" dirty="0"/>
              <a:t> </a:t>
            </a:r>
          </a:p>
          <a:p>
            <a:r>
              <a:rPr lang="en-US" dirty="0"/>
              <a:t>These special units have done the following types of activities:</a:t>
            </a:r>
          </a:p>
          <a:p>
            <a:r>
              <a:rPr lang="en-US" dirty="0"/>
              <a:t> </a:t>
            </a:r>
          </a:p>
          <a:p>
            <a:r>
              <a:rPr lang="en-US" dirty="0"/>
              <a:t>1.  Letters to the offenders. </a:t>
            </a:r>
          </a:p>
          <a:p>
            <a:r>
              <a:rPr lang="en-US" dirty="0"/>
              <a:t>2.  Within the LASER Zones do door knocks - talk with whoever is there.  Let them know we are aware of them and offer services.  </a:t>
            </a:r>
          </a:p>
          <a:p>
            <a:r>
              <a:rPr lang="en-US" dirty="0"/>
              <a:t>3.  Warrant checks.   </a:t>
            </a:r>
          </a:p>
          <a:p>
            <a:r>
              <a:rPr lang="en-US" dirty="0"/>
              <a:t>5.  Parole/probation checks.  </a:t>
            </a:r>
          </a:p>
          <a:p>
            <a:r>
              <a:rPr lang="en-US" dirty="0"/>
              <a:t>6.  Updates every two weeks to discuss what was done with each chronic offender.   </a:t>
            </a:r>
          </a:p>
          <a:p>
            <a:r>
              <a:rPr lang="en-US" dirty="0"/>
              <a:t>	-How many chronic offenders have been arrested in the last two 	weeks?</a:t>
            </a:r>
          </a:p>
          <a:p>
            <a:r>
              <a:rPr lang="en-US" dirty="0"/>
              <a:t>	-How many chronic offenders has your group made contact with?</a:t>
            </a:r>
          </a:p>
          <a:p>
            <a:r>
              <a:rPr lang="en-US" dirty="0"/>
              <a:t>	-What is the status for each offender?</a:t>
            </a:r>
          </a:p>
          <a:p>
            <a:r>
              <a:rPr lang="en-US" dirty="0"/>
              <a:t>	-What are your strategies for your outstanding offenders?</a:t>
            </a:r>
          </a:p>
        </p:txBody>
      </p:sp>
    </p:spTree>
    <p:extLst>
      <p:ext uri="{BB962C8B-B14F-4D97-AF65-F5344CB8AC3E}">
        <p14:creationId xmlns:p14="http://schemas.microsoft.com/office/powerpoint/2010/main" val="2183779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rebuchet MS" panose="020B0603020202020204" pitchFamily="34" charset="0"/>
              </a:rPr>
              <a:t>Anchor Points</a:t>
            </a:r>
          </a:p>
        </p:txBody>
      </p:sp>
      <p:sp>
        <p:nvSpPr>
          <p:cNvPr id="3" name="TextBox 2"/>
          <p:cNvSpPr txBox="1"/>
          <p:nvPr/>
        </p:nvSpPr>
        <p:spPr>
          <a:xfrm>
            <a:off x="1066800" y="1426464"/>
            <a:ext cx="7620000" cy="4893647"/>
          </a:xfrm>
          <a:prstGeom prst="rect">
            <a:avLst/>
          </a:prstGeom>
          <a:noFill/>
        </p:spPr>
        <p:txBody>
          <a:bodyPr wrap="square" rtlCol="0">
            <a:spAutoFit/>
          </a:bodyPr>
          <a:lstStyle/>
          <a:p>
            <a:r>
              <a:rPr lang="en-US" sz="2400" dirty="0"/>
              <a:t>An “Anchor Point” is a location in a LASER Zone that officers identified as possibly being responsible for the crime.  An “Anchor Point” can be a business, residence or gathering place.</a:t>
            </a:r>
          </a:p>
          <a:p>
            <a:endParaRPr lang="en-US" sz="2400" dirty="0"/>
          </a:p>
          <a:p>
            <a:r>
              <a:rPr lang="en-US" sz="2400" dirty="0"/>
              <a:t>Areas are being asked to identify their Top Five “Anchor Points” and prepare strategies to address the issues.  Strategies can include;</a:t>
            </a:r>
          </a:p>
          <a:p>
            <a:endParaRPr lang="en-US" sz="2400" dirty="0"/>
          </a:p>
          <a:p>
            <a:pPr marL="1714500" lvl="3" indent="-342900">
              <a:buFont typeface="Arial" panose="020B0604020202020204" pitchFamily="34" charset="0"/>
              <a:buChar char="•"/>
            </a:pPr>
            <a:r>
              <a:rPr lang="en-US" sz="2400" dirty="0"/>
              <a:t>Abatements/evictions</a:t>
            </a:r>
          </a:p>
          <a:p>
            <a:pPr marL="1714500" lvl="3" indent="-342900">
              <a:buFont typeface="Arial" panose="020B0604020202020204" pitchFamily="34" charset="0"/>
              <a:buChar char="•"/>
            </a:pPr>
            <a:r>
              <a:rPr lang="en-US" sz="2400" dirty="0"/>
              <a:t>Licensing/Conditional Use Permits</a:t>
            </a:r>
          </a:p>
          <a:p>
            <a:pPr marL="1714500" lvl="3" indent="-342900">
              <a:buFont typeface="Arial" panose="020B0604020202020204" pitchFamily="34" charset="0"/>
              <a:buChar char="•"/>
            </a:pPr>
            <a:r>
              <a:rPr lang="en-US" sz="2400" dirty="0"/>
              <a:t>Changes to environmental design</a:t>
            </a:r>
          </a:p>
          <a:p>
            <a:endParaRPr lang="en-US" sz="2400" dirty="0"/>
          </a:p>
        </p:txBody>
      </p:sp>
    </p:spTree>
    <p:extLst>
      <p:ext uri="{BB962C8B-B14F-4D97-AF65-F5344CB8AC3E}">
        <p14:creationId xmlns:p14="http://schemas.microsoft.com/office/powerpoint/2010/main" val="1401662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19400"/>
            <a:ext cx="7772400" cy="914400"/>
          </a:xfrm>
        </p:spPr>
        <p:txBody>
          <a:bodyPr/>
          <a:lstStyle/>
          <a:p>
            <a:pPr algn="ctr"/>
            <a:r>
              <a:rPr lang="en-US" dirty="0">
                <a:latin typeface="Trebuchet MS" panose="020B0603020202020204" pitchFamily="34" charset="0"/>
              </a:rPr>
              <a:t>QUESTIONS?</a:t>
            </a:r>
          </a:p>
        </p:txBody>
      </p:sp>
    </p:spTree>
    <p:extLst>
      <p:ext uri="{BB962C8B-B14F-4D97-AF65-F5344CB8AC3E}">
        <p14:creationId xmlns:p14="http://schemas.microsoft.com/office/powerpoint/2010/main" val="25196985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264</TotalTime>
  <Words>504</Words>
  <Application>Microsoft Office PowerPoint</Application>
  <PresentationFormat>On-screen Show (4:3)</PresentationFormat>
  <Paragraphs>64</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Century Gothic</vt:lpstr>
      <vt:lpstr>Consolas</vt:lpstr>
      <vt:lpstr>Corbel</vt:lpstr>
      <vt:lpstr>Trebuchet MS</vt:lpstr>
      <vt:lpstr>Wingdings</vt:lpstr>
      <vt:lpstr>Wingdings 2</vt:lpstr>
      <vt:lpstr>Wingdings 3</vt:lpstr>
      <vt:lpstr>Metro</vt:lpstr>
      <vt:lpstr>L.A.S.E.R.</vt:lpstr>
      <vt:lpstr>PowerPoint Presentation</vt:lpstr>
      <vt:lpstr>Operation LASER+</vt:lpstr>
      <vt:lpstr>Winning Elements</vt:lpstr>
      <vt:lpstr>Dosage</vt:lpstr>
      <vt:lpstr>Chronic Offender Bulletins</vt:lpstr>
      <vt:lpstr>Chronic Offender Criteria </vt:lpstr>
      <vt:lpstr>Actions on Chronic Offender</vt:lpstr>
      <vt:lpstr>Anchor Points</vt:lpstr>
      <vt:lpstr>QUESTIONS?</vt:lpstr>
    </vt:vector>
  </TitlesOfParts>
  <Company>Los Angeles Police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L.A.S.E.R.</dc:title>
  <dc:creator>25363</dc:creator>
  <cp:lastModifiedBy>Leroy A Beavers</cp:lastModifiedBy>
  <cp:revision>10</cp:revision>
  <dcterms:created xsi:type="dcterms:W3CDTF">2017-02-14T17:38:08Z</dcterms:created>
  <dcterms:modified xsi:type="dcterms:W3CDTF">2018-02-26T15:19:30Z</dcterms:modified>
</cp:coreProperties>
</file>